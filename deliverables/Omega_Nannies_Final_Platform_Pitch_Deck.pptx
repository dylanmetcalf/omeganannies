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32e2331-2913-24c7-1926-5ada83f32504}">
          <p14:sldIdLst>
            <p14:sldId id="256"/>
            <p14:sldId id="257"/>
            <p14:sldId id="258"/>
          </p14:sldIdLst>
        </p14:section>
        <p14:section name="Families" id="{5d4d4c09-0711-2920-218a-4a59c14c025d}">
          <p14:sldIdLst>
            <p14:sldId id="259"/>
            <p14:sldId id="260"/>
            <p14:sldId id="261"/>
            <p14:sldId id="262"/>
          </p14:sldIdLst>
        </p14:section>
        <p14:section name="Nannies &amp; operations" id="{06b71106-4c2a-3d56-0961-be428d314a38}">
          <p14:sldIdLst>
            <p14:sldId id="263"/>
            <p14:sldId id="264"/>
            <p14:sldId id="265"/>
            <p14:sldId id="266"/>
          </p14:sldIdLst>
        </p14:section>
        <p14:section name="Platform" id="{378fa9d4-441f-faa8-03ef-d609cbbddbc7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e" id="{315605db-682b-84bc-dd11-b10365a05f53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 in this deck is a screenshot of the real product running with synthetic demo data. Features that still need Omega's accounts or approval are marked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next step: a working session to connect accounts and agree the open business rules, then a short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Omega Nannies Operating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mega Nannies photography from omeganannies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63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NEXT VERSION · FOR OMEGA NANNIES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Omega Nannies Platform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CE5"/>
                </a:solidFill>
              </a:rPr>
              <a:t>A guided way for families to find and request the right nanny — connected to your website, your calendars and your team.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0"/>
                </a:solidFill>
              </a:rPr>
              <a:t>October 2026  ·  Real screenshots of the working product, synthetic demo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PRODUCT VISION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Effortless for families, organised for Omega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three questions, see who is free, shortlist, compare and send a request — on any phone.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2439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Nannies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Offers to accept, today’s schedule, documents and a profile that shows their real experience.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224393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Omega team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Requests arrive complete, with preferences and availability — plus live insight into the business.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care, with software that feels as personal as the service.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CONNECTED ECOSYSTEM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 across your website and the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93392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omeganannies.com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Brand, services and trust. “Book now”, “Find a nanny” and login buttons link into the portal — tokens never travel in links.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26280" y="16459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172038"/>
          </a:solidFill>
          <a:ln w="12700">
            <a:solidFill>
              <a:srgbClr val="1720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810512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Omega portal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D9DCE5"/>
                </a:solidFill>
              </a:rPr>
              <a:t>Family, Nanny and Management portals on one secure database. Safe redirects return each person to the right place.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41080" y="1463040"/>
            <a:ext cx="2971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6276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Payments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PayFast · verified notices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41080" y="2743200"/>
            <a:ext cx="2971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2907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Calendars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Google · Outlook (two-way)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41080" y="4023360"/>
            <a:ext cx="2971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4187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Messages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Email · SMS · WhatsApp · in-app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3291840"/>
            <a:ext cx="868680" cy="914"/>
          </a:xfrm>
          <a:prstGeom prst="line">
            <a:avLst/>
          </a:prstGeom>
          <a:noFill/>
          <a:ln w="25400">
            <a:solidFill>
              <a:srgbClr val="B989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7726680" y="2057400"/>
            <a:ext cx="868680" cy="777240"/>
          </a:xfrm>
          <a:prstGeom prst="line">
            <a:avLst/>
          </a:prstGeom>
          <a:noFill/>
          <a:ln w="25400">
            <a:solidFill>
              <a:srgbClr val="B989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3291840"/>
            <a:ext cx="868680" cy="914"/>
          </a:xfrm>
          <a:prstGeom prst="line">
            <a:avLst/>
          </a:prstGeom>
          <a:noFill/>
          <a:ln w="25400">
            <a:solidFill>
              <a:srgbClr val="B989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3749040"/>
            <a:ext cx="868680" cy="822960"/>
          </a:xfrm>
          <a:prstGeom prst="line">
            <a:avLst/>
          </a:prstGeom>
          <a:noFill/>
          <a:ln w="25400">
            <a:solidFill>
              <a:srgbClr val="B9892E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website keeps doing what it does well; the portal takes over from the first click on “Book”.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FAMILY EXPERIENCE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home screen that shows what needs attention</a:t>
            </a:r>
            <a:endParaRPr lang="en-US" sz="3200" dirty="0"/>
          </a:p>
        </p:txBody>
      </p:sp>
      <p:sp>
        <p:nvSpPr>
          <p:cNvPr id="4" name="frame 03-family-home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03-family-home" descr="Family home with action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8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5506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 on what matters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Quotes to approve, deposits due and unfinished requests come first.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18120" y="274320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283976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70662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Pick up where you left off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 answers are saved — continue on any device.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818120" y="379476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389132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75818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Family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Household, children, addresses and members in one place.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818120" y="484632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681" y="4942881"/>
            <a:ext cx="245791" cy="24579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12480" y="480974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clear button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brighter “Book a nanny” action is always one tap away.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DISCOVERY &amp; BOOKING JOURNEY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short steps instead of one long 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727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Your needs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Service, dates or weekly pattern, area and children — only relevant questions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5727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Choose nannies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photo-led grid with real availability for your dates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15727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 &amp; send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Rank up to three preferences or ask Omega to choose</a:t>
            </a:r>
            <a:endParaRPr lang="en-US" sz="1600" dirty="0"/>
          </a:p>
        </p:txBody>
      </p:sp>
      <p:sp>
        <p:nvSpPr>
          <p:cNvPr id="13" name="frame 04-step1"/>
          <p:cNvSpPr/>
          <p:nvPr/>
        </p:nvSpPr>
        <p:spPr>
          <a:xfrm>
            <a:off x="539496" y="264261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14" name="04-step1" descr="Step 1 requirements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97480"/>
            <a:ext cx="5394960" cy="3371850"/>
          </a:xfrm>
          <a:prstGeom prst="rect">
            <a:avLst/>
          </a:prstGeom>
        </p:spPr>
      </p:pic>
      <p:sp>
        <p:nvSpPr>
          <p:cNvPr id="15" name="frame 05-grid"/>
          <p:cNvSpPr/>
          <p:nvPr/>
        </p:nvSpPr>
        <p:spPr>
          <a:xfrm>
            <a:off x="6163056" y="264261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16" name="05-grid" descr="Discovery gr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97480"/>
            <a:ext cx="5394960" cy="337185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4360" y="6144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Requests are never auto-confirmed and nothing is charged until Omega quotes.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PROFILES &amp; SHORTLISTING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closer without losing your place</a:t>
            </a:r>
            <a:endParaRPr lang="en-US" sz="3200" dirty="0"/>
          </a:p>
        </p:txBody>
      </p:sp>
      <p:sp>
        <p:nvSpPr>
          <p:cNvPr id="4" name="frame 06-preview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06-preview" descr="Profile preview dra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07-grid-shortlisted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07-grid-shortlisted" descr="Grid with shortlisted nann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Preview drawer: introduction, experience, availability — the grid, filters and page stay exactly as they were.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Bookmark to shortlist with instant confirmation; the shortlist is saved to the account across devices.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COMPARISON &amp; REVIEWS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facts and genuine reviews only</a:t>
            </a:r>
            <a:endParaRPr lang="en-US" sz="3200" dirty="0"/>
          </a:p>
        </p:txBody>
      </p:sp>
      <p:sp>
        <p:nvSpPr>
          <p:cNvPr id="4" name="frame 10-compare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0-compare" descr="Comparison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08b-profile-reviews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08b-profile-reviews" descr="Profile reviews s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Compare 2–4 nannies on experience, availability, languages, ages and reviews — no private data.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Reviews come only from completed Omega bookings, are moderated, and can be reported. Averages need 3+ reviews.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NANNY PORTAL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Nannies run their day from their phone</a:t>
            </a:r>
            <a:endParaRPr lang="en-US" sz="3200" dirty="0"/>
          </a:p>
        </p:txBody>
      </p:sp>
      <p:sp>
        <p:nvSpPr>
          <p:cNvPr id="4" name="frame 40-nanny-today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40-nanny-today" descr="Nanny today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frame 41-m-nanny"/>
          <p:cNvSpPr/>
          <p:nvPr/>
        </p:nvSpPr>
        <p:spPr>
          <a:xfrm>
            <a:off x="7626096" y="1545336"/>
            <a:ext cx="2053370" cy="4315968"/>
          </a:xfrm>
          <a:prstGeom prst="roundRect">
            <a:avLst>
              <a:gd name="adj" fmla="val 3563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41-m-nanny" descr="Nanny portal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00200"/>
            <a:ext cx="1943642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2980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361" y="1788201"/>
            <a:ext cx="245791" cy="24579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424160" y="1655064"/>
            <a:ext cx="1417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Accept or decline; area only until accepted.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9829800" y="315468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361" y="3251241"/>
            <a:ext cx="245791" cy="24579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424160" y="3118104"/>
            <a:ext cx="1417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Calendar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Bookings flow into their own calendar.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MANAGEMENT PORTAL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arrive complete and explained</a:t>
            </a:r>
            <a:endParaRPr lang="en-US" sz="3200" dirty="0"/>
          </a:p>
        </p:txBody>
      </p:sp>
      <p:sp>
        <p:nvSpPr>
          <p:cNvPr id="4" name="frame 30-manage-overview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0-manage-overview" descr="Operations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31-manage-matching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31-manage-matching" descr="Explainable match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Overview queues: new requests, today’s care, approvals and payment exceptions.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Matching explains every recommendation — including the family’s 1st, 2nd and 3rd preference.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HOUSEHOLD &amp; FAMILY MANAGEMENT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about the family in one place</a:t>
            </a:r>
            <a:endParaRPr lang="en-US" sz="3200" dirty="0"/>
          </a:p>
        </p:txBody>
      </p:sp>
      <p:sp>
        <p:nvSpPr>
          <p:cNvPr id="4" name="frame 13-my-family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3-my-family" descr="My Family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8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5506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Household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Billing and the emergency contact.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18120" y="274320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283976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70662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Children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Routines, allergies and care notes — shared with the nanny only once confirmed.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818120" y="379476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389132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75818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Addresses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shown to a nanny before the reveal point Omega sets.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818120" y="484632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681" y="4942881"/>
            <a:ext cx="245791" cy="24579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12480" y="4809744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Members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Partners can see bookings; booking and paying are separate permissions.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BOOKING OPERATIONS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knows what happens next</a:t>
            </a:r>
            <a:endParaRPr lang="en-US" sz="3200" dirty="0"/>
          </a:p>
        </p:txBody>
      </p:sp>
      <p:sp>
        <p:nvSpPr>
          <p:cNvPr id="4" name="frame 12-request-received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2-request-received" descr="Request received with progress tra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34-tasks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34-tasks" descr="Management tas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Progress comes from the real booking state, with a plain “what happens next”.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“Help me choose” creates a high-priority task; duplicate payments, unpaid holds and calendar conflicts do too.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CALENDAR SYNCHRONISATION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calendars, with Omega as the source of truth</a:t>
            </a:r>
            <a:endParaRPr lang="en-US" sz="3200" dirty="0"/>
          </a:p>
        </p:txBody>
      </p:sp>
      <p:sp>
        <p:nvSpPr>
          <p:cNvPr id="4" name="frame 15-account-calendar"/>
          <p:cNvSpPr/>
          <p:nvPr/>
        </p:nvSpPr>
        <p:spPr>
          <a:xfrm>
            <a:off x="539496" y="1545336"/>
            <a:ext cx="6144768" cy="3881628"/>
          </a:xfrm>
          <a:prstGeom prst="roundRect">
            <a:avLst>
              <a:gd name="adj" fmla="val 1885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5-account-calendar" descr="Calendar connections i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035040" cy="3771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6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655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Confirmed bookings appear in nanny and family calendars — one event per care day, never duplicated.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086600" y="2834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61" y="293120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2798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nanny’s busy times protect availability — start and end only, never titles or details.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086600" y="3977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161" y="407420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0" y="3941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Conflicts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Outside edits never change a booking; Omega restores or reschedules.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94360" y="5623560"/>
            <a:ext cx="4558284" cy="329184"/>
          </a:xfrm>
          <a:prstGeom prst="roundRect">
            <a:avLst>
              <a:gd name="adj" fmla="val 50000"/>
            </a:avLst>
          </a:prstGeom>
          <a:solidFill>
            <a:srgbClr val="FDF2DD"/>
          </a:solidFill>
          <a:ln w="12700">
            <a:solidFill>
              <a:srgbClr val="FDF2D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94360" y="5623560"/>
            <a:ext cx="4558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A00"/>
                </a:solidFill>
              </a:rPr>
              <a:t>Built &amp; tested — needs Google / Microsoft app credentials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MULTI-CHANNEL NOTIFICATIONS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message, on the channel each person chose</a:t>
            </a:r>
            <a:endParaRPr lang="en-US" sz="3200" dirty="0"/>
          </a:p>
        </p:txBody>
      </p:sp>
      <p:sp>
        <p:nvSpPr>
          <p:cNvPr id="4" name="frame 14-account-notifications"/>
          <p:cNvSpPr/>
          <p:nvPr/>
        </p:nvSpPr>
        <p:spPr>
          <a:xfrm>
            <a:off x="539496" y="1545336"/>
            <a:ext cx="6144768" cy="3881628"/>
          </a:xfrm>
          <a:prstGeom prst="roundRect">
            <a:avLst>
              <a:gd name="adj" fmla="val 1885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4-account-notifications" descr="Notification prefere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035040" cy="3771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6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0" y="1655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Email &amp; in-app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booking step, in short and reassuring language.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086600" y="2834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61" y="293120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2798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SMS &amp; WhatsApp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with a mobile number and recorded consent; never addresses or child details.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086600" y="3977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161" y="407420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0" y="3941064"/>
            <a:ext cx="3977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 delivery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“Delivered” only when the provider confirms it; retries and history included.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94360" y="5623560"/>
            <a:ext cx="6501384" cy="329184"/>
          </a:xfrm>
          <a:prstGeom prst="roundRect">
            <a:avLst>
              <a:gd name="adj" fmla="val 50000"/>
            </a:avLst>
          </a:prstGeom>
          <a:solidFill>
            <a:srgbClr val="FDF2DD"/>
          </a:solidFill>
          <a:ln w="12700">
            <a:solidFill>
              <a:srgbClr val="FDF2D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94360" y="5623560"/>
            <a:ext cx="6501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A00"/>
                </a:solidFill>
              </a:rPr>
              <a:t>Email built — SMS / WhatsApp need a Twilio account and approved WhatsApp templates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REFERRALS &amp; LOYALTY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switch on when Omega approves the terms</a:t>
            </a:r>
            <a:endParaRPr lang="en-US" sz="3200" dirty="0"/>
          </a:p>
        </p:txBody>
      </p:sp>
      <p:sp>
        <p:nvSpPr>
          <p:cNvPr id="4" name="frame 35-growth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5-growth" descr="Referrals and loyalty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8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55064"/>
            <a:ext cx="3246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Referral links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Unique codes, attribution and progress — referred families never named.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18120" y="288036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297692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843784"/>
            <a:ext cx="3246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Your rules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type and value, qualifying booking, expiry, limits and approval.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818120" y="406908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416564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4032504"/>
            <a:ext cx="3246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Fraud-aware ledger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Self-referrals blocked, suspicious sign-ups flagged, every change audited.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94360" y="6035040"/>
            <a:ext cx="3781044" cy="329184"/>
          </a:xfrm>
          <a:prstGeom prst="roundRect">
            <a:avLst>
              <a:gd name="adj" fmla="val 50000"/>
            </a:avLst>
          </a:prstGeom>
          <a:solidFill>
            <a:srgbClr val="FDF2DD"/>
          </a:solidFill>
          <a:ln w="12700">
            <a:solidFill>
              <a:srgbClr val="FDF2D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94360" y="6035040"/>
            <a:ext cx="3781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5A00"/>
                </a:solidFill>
              </a:rPr>
              <a:t>Inactive by default — no rewards until approved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MANAGEMENT INSIGHTS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figures, filtered your way</a:t>
            </a:r>
            <a:endParaRPr lang="en-US" sz="3200" dirty="0"/>
          </a:p>
        </p:txBody>
      </p:sp>
      <p:sp>
        <p:nvSpPr>
          <p:cNvPr id="4" name="frame 32-insights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2-insights" descr="Insights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33-insights-commercial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33-insights-commercial" descr="Commercial insigh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Bookings, demand, nanny utilisation and family behaviour — filter by date, service, area, status or nanny.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Quoted, booked, invoiced, collected and outstanding are always separate. Only “collected” is money received.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SECURITY &amp; PRIVACY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features, the same protection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766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Addresses private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Area only during discovery; full address after confirmation.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55848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0168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810" y="20766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Your data is yours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Shortlists, searches and views belong to one family only.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63056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37376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18" y="20766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37376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Tamper-proof requests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Preferences and prices re-checked on the server.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970264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44584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226" y="207660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44584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Calendar safety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Encrypted tokens, minimal permissions, verified webhooks.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" y="4316882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Quiet messages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No addresses, child details or IDs in SMS or WhatsApp.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355848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630168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810" y="431688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630168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Safe links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Website links only land inside the portal; no tokens in URLs.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163056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37376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018" y="4316882"/>
            <a:ext cx="281635" cy="28163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37376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Honest ledgers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Rewards only from the server; balances can’t be edited by users.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8970264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244584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5226" y="4316882"/>
            <a:ext cx="281635" cy="28163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244584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POPIA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Own-data export now includes shortlists, searches and calendars.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0"/>
                </a:solidFill>
              </a:rPr>
              <a:t>Each control is covered by automated tests that attempt the misuse. A professional penetration test is still recommended before launch.</a:t>
            </a:r>
            <a:endParaRPr lang="en-US" sz="120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MOBILE EXPERIENCE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hand, on any phone</a:t>
            </a:r>
            <a:endParaRPr lang="en-US" sz="3200" dirty="0"/>
          </a:p>
        </p:txBody>
      </p:sp>
      <p:sp>
        <p:nvSpPr>
          <p:cNvPr id="4" name="frame 20-m-home"/>
          <p:cNvSpPr/>
          <p:nvPr/>
        </p:nvSpPr>
        <p:spPr>
          <a:xfrm>
            <a:off x="539496" y="1545336"/>
            <a:ext cx="1947737" cy="4087368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20-m-home" descr="Family hom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1838009" cy="3977640"/>
          </a:xfrm>
          <a:prstGeom prst="rect">
            <a:avLst/>
          </a:prstGeom>
        </p:spPr>
      </p:pic>
      <p:sp>
        <p:nvSpPr>
          <p:cNvPr id="6" name="frame 23-m-step1"/>
          <p:cNvSpPr/>
          <p:nvPr/>
        </p:nvSpPr>
        <p:spPr>
          <a:xfrm>
            <a:off x="2651825" y="1545336"/>
            <a:ext cx="1947737" cy="4087368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23-m-step1" descr="Booking step 1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89" y="1600200"/>
            <a:ext cx="1838009" cy="3977640"/>
          </a:xfrm>
          <a:prstGeom prst="rect">
            <a:avLst/>
          </a:prstGeom>
        </p:spPr>
      </p:pic>
      <p:sp>
        <p:nvSpPr>
          <p:cNvPr id="8" name="frame 21-m-grid"/>
          <p:cNvSpPr/>
          <p:nvPr/>
        </p:nvSpPr>
        <p:spPr>
          <a:xfrm>
            <a:off x="4764154" y="1545336"/>
            <a:ext cx="1947737" cy="4087368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9" name="21-m-grid" descr="Discovery on a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018" y="1600200"/>
            <a:ext cx="1838009" cy="3977640"/>
          </a:xfrm>
          <a:prstGeom prst="rect">
            <a:avLst/>
          </a:prstGeom>
        </p:spPr>
      </p:pic>
      <p:sp>
        <p:nvSpPr>
          <p:cNvPr id="10" name="frame 22-m-preview"/>
          <p:cNvSpPr/>
          <p:nvPr/>
        </p:nvSpPr>
        <p:spPr>
          <a:xfrm>
            <a:off x="6876483" y="1545336"/>
            <a:ext cx="1947737" cy="4087368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11" name="22-m-preview" descr="Profile preview on a 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347" y="1600200"/>
            <a:ext cx="1838009" cy="39776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135116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677" y="1788201"/>
            <a:ext cx="245791" cy="245791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729476" y="1655064"/>
            <a:ext cx="19291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Centre action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“Book a nanny”, or the next step in context.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9135116" y="30632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1677" y="3159801"/>
            <a:ext cx="245791" cy="245791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9729476" y="3026664"/>
            <a:ext cx="19291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Installable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Home-screen app; never caches personal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FUTURE OPPORTUNITIES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 — options, not commitments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0766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Nanny payouts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the compensation model is agreed.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20766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Availability alerts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Opt-in alerts when a saved search has a free nanny.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20766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667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New regions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Areas and pricing per region.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422544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868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Richer profiles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video introductions and photo galleries.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29768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4225442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61772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Languages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portal in Afrikaans and isiXhosa.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4672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402" y="422544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6676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Forecasting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Seasonal demand by area and service.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3503" y="1161288"/>
            <a:ext cx="5632704" cy="4535424"/>
          </a:xfrm>
          <a:prstGeom prst="roundRect">
            <a:avLst>
              <a:gd name="adj" fmla="val 2016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pic>
        <p:nvPicPr>
          <p:cNvPr id="3" name="Image 0" descr="The Omega Nannies founders (photo from omeganannies.co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234440"/>
            <a:ext cx="548640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CLOSING VISION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your families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45920"/>
            <a:ext cx="4327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8EE"/>
                </a:solidFill>
              </a:rPr>
              <a:t>Connect accounts: hosting, PayFast, email, SMS/WhatsApp, calendars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514600"/>
            <a:ext cx="4327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8EE"/>
                </a:solidFill>
              </a:rPr>
              <a:t>Confirm rates, policies and referral terms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383280"/>
            <a:ext cx="4327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8EE"/>
                </a:solidFill>
              </a:rPr>
              <a:t>Invite your nannies to claim their profiles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251960"/>
            <a:ext cx="4327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8EE"/>
                </a:solidFill>
              </a:rPr>
              <a:t>Pilot with a few families end to end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120640"/>
            <a:ext cx="4327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8EE"/>
                </a:solidFill>
              </a:rPr>
              <a:t>Penetration test and privacy review, then launch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172200"/>
            <a:ext cx="505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The product is built and tested. What remains are your accounts, your decisions and two outside reviews.</a:t>
            </a:r>
            <a:endParaRPr lang="en-US" sz="13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ega Nannies">
  <a:themeElements>
    <a:clrScheme name="Omega Nannies">
      <a:dk1>
        <a:srgbClr val="1C2233"/>
      </a:dk1>
      <a:lt1>
        <a:srgbClr val="FFFFFF"/>
      </a:lt1>
      <a:dk2>
        <a:srgbClr val="172038"/>
      </a:dk2>
      <a:lt2>
        <a:srgbClr val="F3F1EC"/>
      </a:lt2>
      <a:accent1>
        <a:srgbClr val="B9892E"/>
      </a:accent1>
      <a:accent2>
        <a:srgbClr val="8A6413"/>
      </a:accent2>
      <a:accent3>
        <a:srgbClr val="1F7A4F"/>
      </a:accent3>
      <a:accent4>
        <a:srgbClr val="285F97"/>
      </a:accent4>
      <a:accent5>
        <a:srgbClr val="5A6070"/>
      </a:accent5>
      <a:accent6>
        <a:srgbClr val="9F6A00"/>
      </a:accent6>
      <a:hlink>
        <a:srgbClr val="285F97"/>
      </a:hlink>
      <a:folHlink>
        <a:srgbClr val="5A6070"/>
      </a:folHlink>
    </a:clrScheme>
    <a:fontScheme name="Omega Nanni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Omega Nannies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Nannies — Final Platform</dc:title>
  <dc:subject>PptxGenJS Presentation</dc:subject>
  <dc:creator>PptxGenJS</dc:creator>
  <cp:lastModifiedBy>PptxGenJS</cp:lastModifiedBy>
  <cp:revision>1</cp:revision>
  <dcterms:created xsi:type="dcterms:W3CDTF">2026-10-30T12:36:54Z</dcterms:created>
  <dcterms:modified xsi:type="dcterms:W3CDTF">2026-10-30T12:36:54Z</dcterms:modified>
</cp:coreProperties>
</file>