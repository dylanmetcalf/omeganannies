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246e7647-3168-2964-f5f7-5da601f982d4}">
          <p14:sldIdLst>
            <p14:sldId id="256"/>
            <p14:sldId id="257"/>
            <p14:sldId id="258"/>
          </p14:sldIdLst>
        </p14:section>
        <p14:section name="The experience" id="{83147572-6997-2c29-8b76-8e1383a23199}">
          <p14:sldIdLst>
            <p14:sldId id="259"/>
            <p14:sldId id="260"/>
            <p14:sldId id="261"/>
          </p14:sldIdLst>
        </p14:section>
        <p14:section name="Nannies" id="{c725a3ff-314b-6605-eedc-fe8fb2b22e87}">
          <p14:sldIdLst>
            <p14:sldId id="262"/>
            <p14:sldId id="263"/>
            <p14:sldId id="264"/>
          </p14:sldIdLst>
        </p14:section>
        <p14:section name="Operations" id="{7924493a-cd7c-2241-1989-d719fd1abc95}">
          <p14:sldIdLst>
            <p14:sldId id="265"/>
            <p14:sldId id="266"/>
            <p14:sldId id="267"/>
            <p14:sldId id="268"/>
            <p14:sldId id="269"/>
          </p14:sldIdLst>
        </p14:section>
        <p14:section name="Close" id="{95bc4089-d913-3766-ad37-6d404378bd86}">
          <p14:sldIdLst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working software, not a mock-up. Every screen in this deck is a real screenshot of the platform running with synthetic demo data. It extends omeganannies.com — the website keeps doing marketing and enquiries; the platform runs everything after the enquiry.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audiences, one database. Each portal shows only what that person needs. The tone and look carry the existing Omega brand.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what we found on the public site. Right: capabilities the site does not have. We did not assume anything about internal tools — these are gaps in what a family or nanny can do online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website's serif was kept for marketing; inside the app we use clean, highly legible type because figures and tables matter. Contrast meets WCAG AA — checked automatically on 33 pages.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family home shows the quotation waiting for them, upcoming care, saved nannies and how to reach a founder.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Prices are computed on the server from a versioned price book, so no one can tamper with the amount. Confirmation happens only when the payment is 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Address and children's care notes appear only from the reveal point Omega chooses — on confirmation by default.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claiming works: Omega prepares the profile; staff add an email and send an invitation; the nanny opens the one-time link, enters the same email, sets a password and accepts the privacy notice; then completes onboarding and submits. Only Omega can approve and publish.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imported the 17 public profiles and photos from omeganannies.com as private drafts. Website claims such as 'police clearance' are never treated as verification — Omega records each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this real example Amahle is marked ineligible because she has no recorded newborn experience — the reason is shown, and an override is possible but recorded.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 figures are calculated from stored records only; definitions are documented. Empty periods show empty states, never invented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Virus scanning needs a ClamAV service in production — until then uploads are clearly labelled 'not scanned'. We say that openly rather than claim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Green items work today. Amber items are built and tested in code but need Omega's own accounts — they are switched on by setting environment variables, not by more development.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Automated tests check there is no sideways scrolling on a Pixel 7 and run accessibility checks on mobile too.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full audit log, with evidence, root cause and the test guarding each fix, is in docs/AUDIT_LOG.md.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 of these are built. They are natural next steps that the current data model supports.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next action: a short working session to set up the accounts and agree the open business rules, then the pilot.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58521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Omega Nannies Operating System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image" Target="../media/image-11-3.jp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image" Target="../media/image-14-3.jp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mega Nannies photography from omeganannies.com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0" y="0"/>
            <a:ext cx="524225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4630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A PROPOSAL FOR OMEGA NANNIES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2011680"/>
            <a:ext cx="5852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Omega Nannies Operating System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1480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CE5"/>
                </a:solidFill>
              </a:rPr>
              <a:t>One private platform for families, nannies and the Omega team — built on the brand families already trust.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60350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0C0"/>
                </a:solidFill>
              </a:rPr>
              <a:t>October 2026  ·  Working software, tested and ready for your accounts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VISION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placement, from enquiry to review, in one place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74720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2243938"/>
            <a:ext cx="358445" cy="35844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Families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47472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Find a vetted nanny, get a clear quote, pay safely and stay in touch — without chasing emails.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297680" y="1737360"/>
            <a:ext cx="3474720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63440" y="210312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4258" y="2243938"/>
            <a:ext cx="358445" cy="35844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6344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Nannies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663440" y="347472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professional home: offers to accept, today’s schedule, documents and a profile they control.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8046720" y="1737360"/>
            <a:ext cx="3474720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12480" y="210312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3298" y="2243938"/>
            <a:ext cx="358445" cy="35844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1248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Omega team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8412480" y="347472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Vetting, matching, quotes, payments and reports — with every sensitive action recorded.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5440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Founder-led care, run like a well-organised private office.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website wins trust — then the work moves to inboxes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389120"/>
          </a:xfrm>
          <a:prstGeom prst="roundRect">
            <a:avLst>
              <a:gd name="adj" fmla="val 208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What omeganannies.com does well today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1460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Beautiful brand and founder story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17 nanny profiles with photos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Rates, FAQ and vetting promise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Enquiry form with POPIA consent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263640" y="1645920"/>
            <a:ext cx="5349240" cy="4389120"/>
          </a:xfrm>
          <a:prstGeom prst="roundRect">
            <a:avLst>
              <a:gd name="adj" fmla="val 2083"/>
            </a:avLst>
          </a:prstGeom>
          <a:solidFill>
            <a:srgbClr val="172038"/>
          </a:solidFill>
          <a:ln w="12700">
            <a:solidFill>
              <a:srgbClr val="17203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What happens after the enquiry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51460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E6E8EE"/>
                </a:solidFill>
              </a:rPr>
              <a:t>No accounts for families or nannies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E6E8EE"/>
                </a:solidFill>
              </a:rPr>
              <a:t>Vetting and documents tracked by hand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E6E8EE"/>
                </a:solidFill>
              </a:rPr>
              <a:t>No shared view of who is free — double-booking risk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E6E8EE"/>
                </a:solidFill>
              </a:rPr>
              <a:t>Quotes, deposits and EFTs reconciled manually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E6E8EE"/>
                </a:solidFill>
              </a:rPr>
              <a:t>Children’s details and IDs travel by email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REDESIGNED EXPERIENCE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Calm, premium software that still feels like Omega</a:t>
            </a:r>
            <a:endParaRPr lang="en-US" sz="3200" dirty="0"/>
          </a:p>
        </p:txBody>
      </p:sp>
      <p:sp>
        <p:nvSpPr>
          <p:cNvPr id="4" name="frame 01-landing"/>
          <p:cNvSpPr/>
          <p:nvPr/>
        </p:nvSpPr>
        <p:spPr>
          <a:xfrm>
            <a:off x="539496" y="1545336"/>
            <a:ext cx="5596128" cy="3538728"/>
          </a:xfrm>
          <a:prstGeom prst="roundRect">
            <a:avLst>
              <a:gd name="adj" fmla="val 2067"/>
            </a:avLst>
          </a:prstGeom>
          <a:solidFill>
            <a:schemeClr val="bg1"/>
          </a:solidFill>
          <a:ln w="9525">
            <a:solidFill>
              <a:srgbClr val="E4E1DA"/>
            </a:solidFill>
            <a:prstDash val="solid"/>
          </a:ln>
          <a:effectLst>
            <a:outerShdw sx="100000" sy="100000" kx="0" ky="0" algn="bl" rotWithShape="0" blurRad="127000" dist="38100" dir="5400000">
              <a:srgbClr val="172038">
                <a:alpha val="16000"/>
              </a:srgbClr>
            </a:outerShdw>
          </a:effectLst>
        </p:spPr>
      </p:sp>
      <p:pic>
        <p:nvPicPr>
          <p:cNvPr id="5" name="01-landing" descr="01-land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600200"/>
            <a:ext cx="5486400" cy="3429000"/>
          </a:xfrm>
          <a:prstGeom prst="rect">
            <a:avLst/>
          </a:prstGeom>
        </p:spPr>
      </p:pic>
      <p:sp>
        <p:nvSpPr>
          <p:cNvPr id="6" name="frame 02-login"/>
          <p:cNvSpPr/>
          <p:nvPr/>
        </p:nvSpPr>
        <p:spPr>
          <a:xfrm>
            <a:off x="6300216" y="1545336"/>
            <a:ext cx="5367528" cy="3395853"/>
          </a:xfrm>
          <a:prstGeom prst="roundRect">
            <a:avLst>
              <a:gd name="adj" fmla="val 2154"/>
            </a:avLst>
          </a:prstGeom>
          <a:solidFill>
            <a:schemeClr val="bg1"/>
          </a:solidFill>
          <a:ln w="9525">
            <a:solidFill>
              <a:srgbClr val="E4E1DA"/>
            </a:solidFill>
            <a:prstDash val="solid"/>
          </a:ln>
          <a:effectLst>
            <a:outerShdw sx="100000" sy="100000" kx="0" ky="0" algn="bl" rotWithShape="0" blurRad="127000" dist="38100" dir="5400000">
              <a:srgbClr val="172038">
                <a:alpha val="16000"/>
              </a:srgbClr>
            </a:outerShdw>
          </a:effectLst>
        </p:spPr>
      </p:sp>
      <p:pic>
        <p:nvPicPr>
          <p:cNvPr id="7" name="02-login" descr="02-login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55080" y="1600200"/>
            <a:ext cx="5257800" cy="328612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94360" y="519379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Landing page with Omega’s own photography and promise.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6355080" y="5193792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Sign-in for families, nannies and staff — one secure door.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594360" y="5715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Design system: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Manrope + Inter typefaces (self-hosted), navy and gold from the brand, accessible contrast, icon navigation and a phone-first tab bar.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FAMILY PORTAL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Families see their nanny, their quote and their next step</a:t>
            </a:r>
            <a:endParaRPr lang="en-US" sz="3200" dirty="0"/>
          </a:p>
        </p:txBody>
      </p:sp>
      <p:sp>
        <p:nvSpPr>
          <p:cNvPr id="4" name="frame 10-family-home"/>
          <p:cNvSpPr/>
          <p:nvPr/>
        </p:nvSpPr>
        <p:spPr>
          <a:xfrm>
            <a:off x="539496" y="1545336"/>
            <a:ext cx="6876288" cy="4338828"/>
          </a:xfrm>
          <a:prstGeom prst="roundRect">
            <a:avLst>
              <a:gd name="adj" fmla="val 1686"/>
            </a:avLst>
          </a:prstGeom>
          <a:solidFill>
            <a:schemeClr val="bg1"/>
          </a:solidFill>
          <a:ln w="9525">
            <a:solidFill>
              <a:srgbClr val="E4E1DA"/>
            </a:solidFill>
            <a:prstDash val="solid"/>
          </a:ln>
          <a:effectLst>
            <a:outerShdw sx="100000" sy="100000" kx="0" ky="0" algn="bl" rotWithShape="0" blurRad="127000" dist="38100" dir="5400000">
              <a:srgbClr val="172038">
                <a:alpha val="16000"/>
              </a:srgbClr>
            </a:outerShdw>
          </a:effectLst>
        </p:spPr>
      </p:sp>
      <p:pic>
        <p:nvPicPr>
          <p:cNvPr id="5" name="10-family-home" descr="10-family-hom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600200"/>
            <a:ext cx="6766560" cy="42291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18120" y="1691640"/>
            <a:ext cx="438912" cy="438912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4681" y="1788201"/>
            <a:ext cx="245791" cy="245791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412480" y="1655064"/>
            <a:ext cx="324612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Discover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Browse approved nannies, shortlist favourites, compare.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7818120" y="2743200"/>
            <a:ext cx="438912" cy="438912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4681" y="2839761"/>
            <a:ext cx="245791" cy="245791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412480" y="2706624"/>
            <a:ext cx="324612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Request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Dates or set weekdays, live-in, driver, language and budget.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7818120" y="3794760"/>
            <a:ext cx="438912" cy="438912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4681" y="3891321"/>
            <a:ext cx="245791" cy="245791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412480" y="3758184"/>
            <a:ext cx="324612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Quote &amp; pay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Clear quote, deposit online, printable receipts.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7818120" y="4846320"/>
            <a:ext cx="438912" cy="438912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4681" y="4942881"/>
            <a:ext cx="245791" cy="245791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8412480" y="4809744"/>
            <a:ext cx="324612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Stay in touch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Messages and updates — no lost WhatsApps.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FAMILY PORTAL · BOOKING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Requests that fit real family life</a:t>
            </a:r>
            <a:endParaRPr lang="en-US" sz="3200" dirty="0"/>
          </a:p>
        </p:txBody>
      </p:sp>
      <p:sp>
        <p:nvSpPr>
          <p:cNvPr id="4" name="frame 12-family-request"/>
          <p:cNvSpPr/>
          <p:nvPr/>
        </p:nvSpPr>
        <p:spPr>
          <a:xfrm>
            <a:off x="539496" y="1545336"/>
            <a:ext cx="5550408" cy="3510153"/>
          </a:xfrm>
          <a:prstGeom prst="roundRect">
            <a:avLst>
              <a:gd name="adj" fmla="val 2084"/>
            </a:avLst>
          </a:prstGeom>
          <a:solidFill>
            <a:schemeClr val="bg1"/>
          </a:solidFill>
          <a:ln w="9525">
            <a:solidFill>
              <a:srgbClr val="E4E1DA"/>
            </a:solidFill>
            <a:prstDash val="solid"/>
          </a:ln>
          <a:effectLst>
            <a:outerShdw sx="100000" sy="100000" kx="0" ky="0" algn="bl" rotWithShape="0" blurRad="127000" dist="38100" dir="5400000">
              <a:srgbClr val="172038">
                <a:alpha val="16000"/>
              </a:srgbClr>
            </a:outerShdw>
          </a:effectLst>
        </p:spPr>
      </p:sp>
      <p:pic>
        <p:nvPicPr>
          <p:cNvPr id="5" name="12-family-request" descr="12-family-reques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600200"/>
            <a:ext cx="5440680" cy="3400425"/>
          </a:xfrm>
          <a:prstGeom prst="rect">
            <a:avLst/>
          </a:prstGeom>
        </p:spPr>
      </p:pic>
      <p:sp>
        <p:nvSpPr>
          <p:cNvPr id="6" name="frame 13-family-quote"/>
          <p:cNvSpPr/>
          <p:nvPr/>
        </p:nvSpPr>
        <p:spPr>
          <a:xfrm>
            <a:off x="6163056" y="1545336"/>
            <a:ext cx="5504688" cy="3481578"/>
          </a:xfrm>
          <a:prstGeom prst="roundRect">
            <a:avLst>
              <a:gd name="adj" fmla="val 2101"/>
            </a:avLst>
          </a:prstGeom>
          <a:solidFill>
            <a:schemeClr val="bg1"/>
          </a:solidFill>
          <a:ln w="9525">
            <a:solidFill>
              <a:srgbClr val="E4E1DA"/>
            </a:solidFill>
            <a:prstDash val="solid"/>
          </a:ln>
          <a:effectLst>
            <a:outerShdw sx="100000" sy="100000" kx="0" ky="0" algn="bl" rotWithShape="0" blurRad="127000" dist="38100" dir="5400000">
              <a:srgbClr val="172038">
                <a:alpha val="16000"/>
              </a:srgbClr>
            </a:outerShdw>
          </a:effectLst>
        </p:spPr>
      </p:sp>
      <p:pic>
        <p:nvPicPr>
          <p:cNvPr id="7" name="13-family-quote" descr="13-family-quot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1600200"/>
            <a:ext cx="5394960" cy="337185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94360" y="5120640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Request: service, dates or chosen weekdays (e.g. Mon/Wed/Fri), times and extras.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6217920" y="51206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Quote: itemised, priced from Omega’s price book; the nanny is held once the family accepts.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NANNY PORTAL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Nannies accept offers and run their day from their phone</a:t>
            </a:r>
            <a:endParaRPr lang="en-US" sz="3200" dirty="0"/>
          </a:p>
        </p:txBody>
      </p:sp>
      <p:sp>
        <p:nvSpPr>
          <p:cNvPr id="4" name="frame 22-nanny-offer"/>
          <p:cNvSpPr/>
          <p:nvPr/>
        </p:nvSpPr>
        <p:spPr>
          <a:xfrm>
            <a:off x="539496" y="1545336"/>
            <a:ext cx="6510528" cy="4110228"/>
          </a:xfrm>
          <a:prstGeom prst="roundRect">
            <a:avLst>
              <a:gd name="adj" fmla="val 1780"/>
            </a:avLst>
          </a:prstGeom>
          <a:solidFill>
            <a:schemeClr val="bg1"/>
          </a:solidFill>
          <a:ln w="9525">
            <a:solidFill>
              <a:srgbClr val="E4E1DA"/>
            </a:solidFill>
            <a:prstDash val="solid"/>
          </a:ln>
          <a:effectLst>
            <a:outerShdw sx="100000" sy="100000" kx="0" ky="0" algn="bl" rotWithShape="0" blurRad="127000" dist="38100" dir="5400000">
              <a:srgbClr val="172038">
                <a:alpha val="16000"/>
              </a:srgbClr>
            </a:outerShdw>
          </a:effectLst>
        </p:spPr>
      </p:sp>
      <p:pic>
        <p:nvPicPr>
          <p:cNvPr id="5" name="22-nanny-offer" descr="22-nanny-offe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600200"/>
            <a:ext cx="6400800" cy="4000500"/>
          </a:xfrm>
          <a:prstGeom prst="rect">
            <a:avLst/>
          </a:prstGeom>
        </p:spPr>
      </p:pic>
      <p:sp>
        <p:nvSpPr>
          <p:cNvPr id="6" name="frame 27-mobile-nanny"/>
          <p:cNvSpPr/>
          <p:nvPr/>
        </p:nvSpPr>
        <p:spPr>
          <a:xfrm>
            <a:off x="7260336" y="1545336"/>
            <a:ext cx="2053370" cy="4315968"/>
          </a:xfrm>
          <a:prstGeom prst="roundRect">
            <a:avLst>
              <a:gd name="adj" fmla="val 3563"/>
            </a:avLst>
          </a:prstGeom>
          <a:solidFill>
            <a:schemeClr val="bg1"/>
          </a:solidFill>
          <a:ln w="9525">
            <a:solidFill>
              <a:srgbClr val="E4E1DA"/>
            </a:solidFill>
            <a:prstDash val="solid"/>
          </a:ln>
          <a:effectLst>
            <a:outerShdw sx="100000" sy="100000" kx="0" ky="0" algn="bl" rotWithShape="0" blurRad="127000" dist="38100" dir="5400000">
              <a:srgbClr val="172038">
                <a:alpha val="16000"/>
              </a:srgbClr>
            </a:outerShdw>
          </a:effectLst>
        </p:spPr>
      </p:sp>
      <p:pic>
        <p:nvPicPr>
          <p:cNvPr id="7" name="27-mobile-nanny" descr="Nanny booking screen on a phon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315200" y="1600200"/>
            <a:ext cx="1943642" cy="42062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464040" y="1691640"/>
            <a:ext cx="438912" cy="438912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0601" y="1788201"/>
            <a:ext cx="245791" cy="245791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0058400" y="1655064"/>
            <a:ext cx="1645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Offers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Accept or decline — only the area is shown until accepted.</a:t>
            </a:r>
            <a:endParaRPr lang="en-US" sz="1600" dirty="0"/>
          </a:p>
        </p:txBody>
      </p:sp>
      <p:sp>
        <p:nvSpPr>
          <p:cNvPr id="11" name="Shape 6"/>
          <p:cNvSpPr/>
          <p:nvPr/>
        </p:nvSpPr>
        <p:spPr>
          <a:xfrm>
            <a:off x="9464040" y="3063240"/>
            <a:ext cx="438912" cy="438912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0601" y="3159801"/>
            <a:ext cx="245791" cy="245791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0058400" y="3026664"/>
            <a:ext cx="1645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On the day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 in, care notes, opt-in location sharing.</a:t>
            </a:r>
            <a:endParaRPr lang="en-US" sz="1600" dirty="0"/>
          </a:p>
        </p:txBody>
      </p:sp>
      <p:sp>
        <p:nvSpPr>
          <p:cNvPr id="14" name="Shape 8"/>
          <p:cNvSpPr/>
          <p:nvPr/>
        </p:nvSpPr>
        <p:spPr>
          <a:xfrm>
            <a:off x="9464040" y="4434840"/>
            <a:ext cx="438912" cy="438912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0601" y="4531401"/>
            <a:ext cx="245791" cy="245791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058400" y="4398264"/>
            <a:ext cx="1645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Documents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Upload ID, police clearance and first aid securely.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ONBOARDING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Profiles prepared by Omega, claimed securely by each nanny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88720" y="1897380"/>
            <a:ext cx="1508760" cy="0"/>
          </a:xfrm>
          <a:prstGeom prst="line">
            <a:avLst/>
          </a:prstGeom>
          <a:noFill/>
          <a:ln w="19050">
            <a:solidFill>
              <a:srgbClr val="E4E1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2860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Prepare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Create, import from the website, or CSV — no email needed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834640" y="164592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346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474720" y="1897380"/>
            <a:ext cx="1508760" cy="0"/>
          </a:xfrm>
          <a:prstGeom prst="line">
            <a:avLst/>
          </a:prstGeom>
          <a:noFill/>
          <a:ln w="19050">
            <a:solidFill>
              <a:srgbClr val="E4E1D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34640" y="22860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Invite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Single-use link, 7 days, revocable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120640" y="164592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206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60720" y="1897380"/>
            <a:ext cx="1508760" cy="0"/>
          </a:xfrm>
          <a:prstGeom prst="line">
            <a:avLst/>
          </a:prstGeom>
          <a:noFill/>
          <a:ln w="19050">
            <a:solidFill>
              <a:srgbClr val="E4E1D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20640" y="22860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Claim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Works only with the invited email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406640" y="164592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066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46720" y="1897380"/>
            <a:ext cx="1508760" cy="0"/>
          </a:xfrm>
          <a:prstGeom prst="line">
            <a:avLst/>
          </a:prstGeom>
          <a:noFill/>
          <a:ln w="19050">
            <a:solidFill>
              <a:srgbClr val="E4E1D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06640" y="22860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Onboard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Confirm details, upload documents and photo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69264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926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692640" y="22860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Approve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5 checks + 3 documents, then publish</a:t>
            </a:r>
            <a:endParaRPr lang="en-US" sz="1600" dirty="0"/>
          </a:p>
        </p:txBody>
      </p:sp>
      <p:sp>
        <p:nvSpPr>
          <p:cNvPr id="23" name="frame 20-claim"/>
          <p:cNvSpPr/>
          <p:nvPr/>
        </p:nvSpPr>
        <p:spPr>
          <a:xfrm>
            <a:off x="539496" y="3374136"/>
            <a:ext cx="4498848" cy="2852928"/>
          </a:xfrm>
          <a:prstGeom prst="roundRect">
            <a:avLst>
              <a:gd name="adj" fmla="val 2564"/>
            </a:avLst>
          </a:prstGeom>
          <a:solidFill>
            <a:schemeClr val="bg1"/>
          </a:solidFill>
          <a:ln w="9525">
            <a:solidFill>
              <a:srgbClr val="E4E1DA"/>
            </a:solidFill>
            <a:prstDash val="solid"/>
          </a:ln>
          <a:effectLst>
            <a:outerShdw sx="100000" sy="100000" kx="0" ky="0" algn="bl" rotWithShape="0" blurRad="127000" dist="38100" dir="5400000">
              <a:srgbClr val="172038">
                <a:alpha val="16000"/>
              </a:srgbClr>
            </a:outerShdw>
          </a:effectLst>
        </p:spPr>
      </p:sp>
      <p:pic>
        <p:nvPicPr>
          <p:cNvPr id="24" name="20-claim" descr="20-claim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3429000"/>
            <a:ext cx="4389120" cy="2743200"/>
          </a:xfrm>
          <a:prstGeom prst="rect">
            <a:avLst/>
          </a:prstGeom>
        </p:spPr>
      </p:pic>
      <p:sp>
        <p:nvSpPr>
          <p:cNvPr id="25" name="frame 21-nanny-onboarding"/>
          <p:cNvSpPr/>
          <p:nvPr/>
        </p:nvSpPr>
        <p:spPr>
          <a:xfrm>
            <a:off x="5202936" y="3374136"/>
            <a:ext cx="4498848" cy="2852928"/>
          </a:xfrm>
          <a:prstGeom prst="roundRect">
            <a:avLst>
              <a:gd name="adj" fmla="val 2564"/>
            </a:avLst>
          </a:prstGeom>
          <a:solidFill>
            <a:schemeClr val="bg1"/>
          </a:solidFill>
          <a:ln w="9525">
            <a:solidFill>
              <a:srgbClr val="E4E1DA"/>
            </a:solidFill>
            <a:prstDash val="solid"/>
          </a:ln>
          <a:effectLst>
            <a:outerShdw sx="100000" sy="100000" kx="0" ky="0" algn="bl" rotWithShape="0" blurRad="127000" dist="38100" dir="5400000">
              <a:srgbClr val="172038">
                <a:alpha val="16000"/>
              </a:srgbClr>
            </a:outerShdw>
          </a:effectLst>
        </p:spPr>
      </p:sp>
      <p:pic>
        <p:nvPicPr>
          <p:cNvPr id="26" name="21-nanny-onboarding" descr="21-nanny-onboardi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257800" y="3429000"/>
            <a:ext cx="4389120" cy="2743200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9921240" y="3429000"/>
            <a:ext cx="1783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Tokens stored only as fingerprints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5 wrong attempts revoke the link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Two claims at once → exactly one account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Claiming never approves a nanny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MANAGEMENT · NANNIES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detail shows where it came from and who verified it</a:t>
            </a:r>
            <a:endParaRPr lang="en-US" sz="3200" dirty="0"/>
          </a:p>
        </p:txBody>
      </p:sp>
      <p:sp>
        <p:nvSpPr>
          <p:cNvPr id="4" name="frame 31-manage-nannies"/>
          <p:cNvSpPr/>
          <p:nvPr/>
        </p:nvSpPr>
        <p:spPr>
          <a:xfrm>
            <a:off x="539496" y="1545336"/>
            <a:ext cx="5550408" cy="3510153"/>
          </a:xfrm>
          <a:prstGeom prst="roundRect">
            <a:avLst>
              <a:gd name="adj" fmla="val 2084"/>
            </a:avLst>
          </a:prstGeom>
          <a:solidFill>
            <a:schemeClr val="bg1"/>
          </a:solidFill>
          <a:ln w="9525">
            <a:solidFill>
              <a:srgbClr val="E4E1DA"/>
            </a:solidFill>
            <a:prstDash val="solid"/>
          </a:ln>
          <a:effectLst>
            <a:outerShdw sx="100000" sy="100000" kx="0" ky="0" algn="bl" rotWithShape="0" blurRad="127000" dist="38100" dir="5400000">
              <a:srgbClr val="172038">
                <a:alpha val="16000"/>
              </a:srgbClr>
            </a:outerShdw>
          </a:effectLst>
        </p:spPr>
      </p:sp>
      <p:pic>
        <p:nvPicPr>
          <p:cNvPr id="5" name="31-manage-nannies" descr="31-manage-nannie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600200"/>
            <a:ext cx="5440680" cy="3400425"/>
          </a:xfrm>
          <a:prstGeom prst="rect">
            <a:avLst/>
          </a:prstGeom>
        </p:spPr>
      </p:pic>
      <p:sp>
        <p:nvSpPr>
          <p:cNvPr id="6" name="frame 32-manage-draft-provenance"/>
          <p:cNvSpPr/>
          <p:nvPr/>
        </p:nvSpPr>
        <p:spPr>
          <a:xfrm>
            <a:off x="6163056" y="1545336"/>
            <a:ext cx="5504688" cy="3481578"/>
          </a:xfrm>
          <a:prstGeom prst="roundRect">
            <a:avLst>
              <a:gd name="adj" fmla="val 2101"/>
            </a:avLst>
          </a:prstGeom>
          <a:solidFill>
            <a:schemeClr val="bg1"/>
          </a:solidFill>
          <a:ln w="9525">
            <a:solidFill>
              <a:srgbClr val="E4E1DA"/>
            </a:solidFill>
            <a:prstDash val="solid"/>
          </a:ln>
          <a:effectLst>
            <a:outerShdw sx="100000" sy="100000" kx="0" ky="0" algn="bl" rotWithShape="0" blurRad="127000" dist="38100" dir="5400000">
              <a:srgbClr val="172038">
                <a:alpha val="16000"/>
              </a:srgbClr>
            </a:outerShdw>
          </a:effectLst>
        </p:spPr>
      </p:sp>
      <p:pic>
        <p:nvPicPr>
          <p:cNvPr id="7" name="32-manage-draft-provenance" descr="32-manage-draft-provenanc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1600200"/>
            <a:ext cx="5394960" cy="337185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94360" y="5120640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Lifecycle board: needs set-up, invited, onboarding, ready for review, published.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6217920" y="51206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Website imports arrive as unverified drafts. Edited or verified fields are never overwritten.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MANAGEMENT · MATCHING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with reasons — Omega makes the call</a:t>
            </a:r>
            <a:endParaRPr lang="en-US" sz="3200" dirty="0"/>
          </a:p>
        </p:txBody>
      </p:sp>
      <p:sp>
        <p:nvSpPr>
          <p:cNvPr id="4" name="frame 34-manage-matching"/>
          <p:cNvSpPr/>
          <p:nvPr/>
        </p:nvSpPr>
        <p:spPr>
          <a:xfrm>
            <a:off x="539496" y="1545336"/>
            <a:ext cx="6876288" cy="4338828"/>
          </a:xfrm>
          <a:prstGeom prst="roundRect">
            <a:avLst>
              <a:gd name="adj" fmla="val 1686"/>
            </a:avLst>
          </a:prstGeom>
          <a:solidFill>
            <a:schemeClr val="bg1"/>
          </a:solidFill>
          <a:ln w="9525">
            <a:solidFill>
              <a:srgbClr val="E4E1DA"/>
            </a:solidFill>
            <a:prstDash val="solid"/>
          </a:ln>
          <a:effectLst>
            <a:outerShdw sx="100000" sy="100000" kx="0" ky="0" algn="bl" rotWithShape="0" blurRad="127000" dist="38100" dir="5400000">
              <a:srgbClr val="172038">
                <a:alpha val="16000"/>
              </a:srgbClr>
            </a:outerShdw>
          </a:effectLst>
        </p:spPr>
      </p:sp>
      <p:pic>
        <p:nvPicPr>
          <p:cNvPr id="5" name="34-manage-matching" descr="34-manage-match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600200"/>
            <a:ext cx="6766560" cy="42291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0" y="1600200"/>
            <a:ext cx="3840480" cy="1298448"/>
          </a:xfrm>
          <a:prstGeom prst="roundRect">
            <a:avLst>
              <a:gd name="adj" fmla="val 70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01000" y="173736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Must-haves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Current vetting, service, children’s ages, languages, driving, no clashing booking or leave.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772400" y="3063240"/>
            <a:ext cx="3840480" cy="1298448"/>
          </a:xfrm>
          <a:prstGeom prst="roundRect">
            <a:avLst>
              <a:gd name="adj" fmla="val 70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01000" y="320040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Preferences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Area, experience, requested nanny, past placements with the family.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2400" y="4526280"/>
            <a:ext cx="3840480" cy="1298448"/>
          </a:xfrm>
          <a:prstGeom prst="roundRect">
            <a:avLst>
              <a:gd name="adj" fmla="val 70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466344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Override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Staff can assign anyway — with a recorded reason.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MANAGEMENT · DAY TO DAY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Queues, tasks and reports — nothing falls through</a:t>
            </a:r>
            <a:endParaRPr lang="en-US" sz="3200" dirty="0"/>
          </a:p>
        </p:txBody>
      </p:sp>
      <p:sp>
        <p:nvSpPr>
          <p:cNvPr id="4" name="frame 30-manage-overview"/>
          <p:cNvSpPr/>
          <p:nvPr/>
        </p:nvSpPr>
        <p:spPr>
          <a:xfrm>
            <a:off x="539496" y="1545336"/>
            <a:ext cx="3675888" cy="2338578"/>
          </a:xfrm>
          <a:prstGeom prst="roundRect">
            <a:avLst>
              <a:gd name="adj" fmla="val 3128"/>
            </a:avLst>
          </a:prstGeom>
          <a:solidFill>
            <a:schemeClr val="bg1"/>
          </a:solidFill>
          <a:ln w="9525">
            <a:solidFill>
              <a:srgbClr val="E4E1DA"/>
            </a:solidFill>
            <a:prstDash val="solid"/>
          </a:ln>
          <a:effectLst>
            <a:outerShdw sx="100000" sy="100000" kx="0" ky="0" algn="bl" rotWithShape="0" blurRad="127000" dist="38100" dir="5400000">
              <a:srgbClr val="172038">
                <a:alpha val="16000"/>
              </a:srgbClr>
            </a:outerShdw>
          </a:effectLst>
        </p:spPr>
      </p:sp>
      <p:pic>
        <p:nvPicPr>
          <p:cNvPr id="5" name="30-manage-overview" descr="30-manage-overview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600200"/>
            <a:ext cx="3566160" cy="2228850"/>
          </a:xfrm>
          <a:prstGeom prst="rect">
            <a:avLst/>
          </a:prstGeom>
        </p:spPr>
      </p:pic>
      <p:sp>
        <p:nvSpPr>
          <p:cNvPr id="6" name="frame 35-manage-tasks"/>
          <p:cNvSpPr/>
          <p:nvPr/>
        </p:nvSpPr>
        <p:spPr>
          <a:xfrm>
            <a:off x="4261104" y="1545336"/>
            <a:ext cx="3675888" cy="2338578"/>
          </a:xfrm>
          <a:prstGeom prst="roundRect">
            <a:avLst>
              <a:gd name="adj" fmla="val 3128"/>
            </a:avLst>
          </a:prstGeom>
          <a:solidFill>
            <a:schemeClr val="bg1"/>
          </a:solidFill>
          <a:ln w="9525">
            <a:solidFill>
              <a:srgbClr val="E4E1DA"/>
            </a:solidFill>
            <a:prstDash val="solid"/>
          </a:ln>
          <a:effectLst>
            <a:outerShdw sx="100000" sy="100000" kx="0" ky="0" algn="bl" rotWithShape="0" blurRad="127000" dist="38100" dir="5400000">
              <a:srgbClr val="172038">
                <a:alpha val="16000"/>
              </a:srgbClr>
            </a:outerShdw>
          </a:effectLst>
        </p:spPr>
      </p:sp>
      <p:pic>
        <p:nvPicPr>
          <p:cNvPr id="7" name="35-manage-tasks" descr="35-manage-task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15968" y="1600200"/>
            <a:ext cx="3566160" cy="2228850"/>
          </a:xfrm>
          <a:prstGeom prst="rect">
            <a:avLst/>
          </a:prstGeom>
        </p:spPr>
      </p:pic>
      <p:sp>
        <p:nvSpPr>
          <p:cNvPr id="8" name="frame 36-manage-reports"/>
          <p:cNvSpPr/>
          <p:nvPr/>
        </p:nvSpPr>
        <p:spPr>
          <a:xfrm>
            <a:off x="7982712" y="1545336"/>
            <a:ext cx="3675888" cy="2338578"/>
          </a:xfrm>
          <a:prstGeom prst="roundRect">
            <a:avLst>
              <a:gd name="adj" fmla="val 3128"/>
            </a:avLst>
          </a:prstGeom>
          <a:solidFill>
            <a:schemeClr val="bg1"/>
          </a:solidFill>
          <a:ln w="9525">
            <a:solidFill>
              <a:srgbClr val="E4E1DA"/>
            </a:solidFill>
            <a:prstDash val="solid"/>
          </a:ln>
          <a:effectLst>
            <a:outerShdw sx="100000" sy="100000" kx="0" ky="0" algn="bl" rotWithShape="0" blurRad="127000" dist="38100" dir="5400000">
              <a:srgbClr val="172038">
                <a:alpha val="16000"/>
              </a:srgbClr>
            </a:outerShdw>
          </a:effectLst>
        </p:spPr>
      </p:sp>
      <p:pic>
        <p:nvPicPr>
          <p:cNvPr id="9" name="36-manage-reports" descr="36-manage-reports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37576" y="1600200"/>
            <a:ext cx="3566160" cy="222885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94360" y="3977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Overview: today’s care, new enquiries, approvals, payment exceptions.</a:t>
            </a:r>
            <a:endParaRPr lang="en-US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4315968" y="3977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Tasks: follow-ups, plus automatic flags for duplicate payments and unpaid holds.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8037576" y="3977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Reports: conversion, revenue, outstanding, utilisation; CSV export.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594360" y="4800600"/>
            <a:ext cx="1101852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868680" y="493776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Also included: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versioned pricing · quotation builder · EFT recording and refunds · families and children records · help centre · support and review moderation · staff permissions · audit log.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SECURITY &amp; PRIVACY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a business that holds children’s data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263152"/>
          </a:solidFill>
          <a:ln w="12700">
            <a:solidFill>
              <a:srgbClr val="2631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02" y="2076602"/>
            <a:ext cx="281635" cy="2816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6060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Addresses private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D9DCE5"/>
                </a:solidFill>
              </a:rPr>
              <a:t>Revealed to the nanny only from the point Omega sets.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355848" y="169164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263152"/>
          </a:solidFill>
          <a:ln w="12700">
            <a:solidFill>
              <a:srgbClr val="26315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30168" y="19659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0810" y="2076602"/>
            <a:ext cx="281635" cy="28163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30168" y="26060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Secure claiming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D9DCE5"/>
                </a:solidFill>
              </a:rPr>
              <a:t>One-time, expiring, email-bound links.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163056" y="169164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263152"/>
          </a:solidFill>
          <a:ln w="12700">
            <a:solidFill>
              <a:srgbClr val="263152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437376" y="19659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8018" y="2076602"/>
            <a:ext cx="281635" cy="28163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437376" y="26060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Staff two-step sign-in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D9DCE5"/>
                </a:solidFill>
              </a:rPr>
              <a:t>Mandatory for everyone in management.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8970264" y="169164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263152"/>
          </a:solidFill>
          <a:ln w="12700">
            <a:solidFill>
              <a:srgbClr val="263152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244584" y="19659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5226" y="2076602"/>
            <a:ext cx="281635" cy="28163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244584" y="26060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Verified payments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D9DCE5"/>
                </a:solidFill>
              </a:rPr>
              <a:t>Signed notices only; replays and duplicates caught.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548640" y="393192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263152"/>
          </a:solidFill>
          <a:ln w="12700">
            <a:solidFill>
              <a:srgbClr val="26315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822960" y="42062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602" y="4316882"/>
            <a:ext cx="281635" cy="281635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22960" y="48463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No double-booking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D9DCE5"/>
                </a:solidFill>
              </a:rPr>
              <a:t>The database refuses overlapping holds.</a:t>
            </a:r>
            <a:endParaRPr lang="en-US" sz="1600" dirty="0"/>
          </a:p>
        </p:txBody>
      </p:sp>
      <p:sp>
        <p:nvSpPr>
          <p:cNvPr id="24" name="Shape 17"/>
          <p:cNvSpPr/>
          <p:nvPr/>
        </p:nvSpPr>
        <p:spPr>
          <a:xfrm>
            <a:off x="3355848" y="393192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263152"/>
          </a:solidFill>
          <a:ln w="12700">
            <a:solidFill>
              <a:srgbClr val="263152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3630168" y="42062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0810" y="4316882"/>
            <a:ext cx="281635" cy="281635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3630168" y="48463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Private documents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D9DCE5"/>
                </a:solidFill>
              </a:rPr>
              <a:t>Signed links; virus-scan hook; every view logged.</a:t>
            </a:r>
            <a:endParaRPr lang="en-US" sz="1600" dirty="0"/>
          </a:p>
        </p:txBody>
      </p:sp>
      <p:sp>
        <p:nvSpPr>
          <p:cNvPr id="28" name="Shape 20"/>
          <p:cNvSpPr/>
          <p:nvPr/>
        </p:nvSpPr>
        <p:spPr>
          <a:xfrm>
            <a:off x="6163056" y="393192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263152"/>
          </a:solidFill>
          <a:ln w="12700">
            <a:solidFill>
              <a:srgbClr val="263152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6437376" y="42062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8018" y="4316882"/>
            <a:ext cx="281635" cy="281635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6437376" y="48463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POPIA rights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D9DCE5"/>
                </a:solidFill>
              </a:rPr>
              <a:t>Own-data export, corrections, account closure.</a:t>
            </a:r>
            <a:endParaRPr lang="en-US" sz="1600" dirty="0"/>
          </a:p>
        </p:txBody>
      </p:sp>
      <p:sp>
        <p:nvSpPr>
          <p:cNvPr id="32" name="Shape 23"/>
          <p:cNvSpPr/>
          <p:nvPr/>
        </p:nvSpPr>
        <p:spPr>
          <a:xfrm>
            <a:off x="8970264" y="393192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263152"/>
          </a:solidFill>
          <a:ln w="12700">
            <a:solidFill>
              <a:srgbClr val="263152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9244584" y="42062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55226" y="4316882"/>
            <a:ext cx="281635" cy="281635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9244584" y="48463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Everything audited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D9DCE5"/>
                </a:solidFill>
              </a:rPr>
              <a:t>Approvals, overrides, payments and exports.</a:t>
            </a:r>
            <a:endParaRPr lang="en-US" sz="1600" dirty="0"/>
          </a:p>
        </p:txBody>
      </p:sp>
      <p:sp>
        <p:nvSpPr>
          <p:cNvPr id="36" name="Text 2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0C0"/>
                </a:solidFill>
              </a:rPr>
              <a:t>Each control is covered by automated tests that attempt the attack. A professional penetration test is still recommended before launch.</a:t>
            </a:r>
            <a:endParaRPr lang="en-US" sz="1200" dirty="0"/>
          </a:p>
        </p:txBody>
      </p:sp>
      <p:sp>
        <p:nvSpPr>
          <p:cNvPr id="38" name="Text 0"/>
          <p:cNvSpPr/>
          <p:nvPr>
            <p:ph idx="100" type="title" hasCustomPrompt="1"/>
          </p:nvPr>
        </p:nvSpPr>
        <p:spPr>
          <a:xfrm>
            <a:off x="640080" y="2011680"/>
            <a:ext cx="5852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INTEGRATIONS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connected today — and what needs your accounts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2011680"/>
                <a:gridCol w="24688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Integration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does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Needed to go live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3"/>
                          </a:solidFill>
                        </a:rPr>
                        <a:t>omeganannies.com import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3"/>
                          </a:solidFill>
                        </a:rPr>
                        <a:t>Brings public nanny profiles and photos in as private drafts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7A4F"/>
                          </a:solidFill>
                        </a:rPr>
                        <a:t>Working — 17 imported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3"/>
                          </a:solidFill>
                        </a:rPr>
                        <a:t>Nothing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3"/>
                          </a:solidFill>
                        </a:rPr>
                        <a:t>Website enquiries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3"/>
                          </a:solidFill>
                        </a:rPr>
                        <a:t>Enquiry form posts securely into the platform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8F5A00"/>
                          </a:solidFill>
                        </a:rPr>
                        <a:t>Built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3"/>
                          </a:solidFill>
                        </a:rPr>
                        <a:t>Small change on the website + shared secret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3"/>
                          </a:solidFill>
                        </a:rPr>
                        <a:t>PayFast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3"/>
                          </a:solidFill>
                        </a:rPr>
                        <a:t>Card/EFT deposits and balances, verified notifications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8F5A00"/>
                          </a:solidFill>
                        </a:rPr>
                        <a:t>Built &amp; tested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3"/>
                          </a:solidFill>
                        </a:rPr>
                        <a:t>Merchant account; one sandbox test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3"/>
                          </a:solidFill>
                        </a:rPr>
                        <a:t>Email (Resend)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3"/>
                          </a:solidFill>
                        </a:rPr>
                        <a:t>Invitations, confirmations, reminders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8F5A00"/>
                          </a:solidFill>
                        </a:rPr>
                        <a:t>Built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3"/>
                          </a:solidFill>
                        </a:rPr>
                        <a:t>API key + verified sending domain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3"/>
                          </a:solidFill>
                        </a:rPr>
                        <a:t>Document storage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3"/>
                          </a:solidFill>
                        </a:rPr>
                        <a:t>Private bucket for IDs and certificates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8F5A00"/>
                          </a:solidFill>
                        </a:rPr>
                        <a:t>Built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3"/>
                          </a:solidFill>
                        </a:rPr>
                        <a:t>Supabase project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3"/>
                          </a:solidFill>
                        </a:rPr>
                        <a:t>Virus scanning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3"/>
                          </a:solidFill>
                        </a:rPr>
                        <a:t>Scans every upload; infected files blocked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8F5A00"/>
                          </a:solidFill>
                        </a:rPr>
                        <a:t>Built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3"/>
                          </a:solidFill>
                        </a:rPr>
                        <a:t>ClamAV service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3"/>
                          </a:solidFill>
                        </a:rPr>
                        <a:t>Calendar &amp; help assistant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3"/>
                          </a:solidFill>
                        </a:rPr>
                        <a:t>Nanny calendar feed; FAQ-grounded assistant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7A4F"/>
                          </a:solidFill>
                        </a:rPr>
                        <a:t>Working / optional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233"/>
                          </a:solidFill>
                        </a:rPr>
                        <a:t>Optional AI key</a:t>
                      </a:r>
                      <a:endParaRPr lang="en-US" sz="13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No credentials were invented. Administration shows each integration’s real status.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MOBILE &amp; APP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 like an app on every phone — no app store needed</a:t>
            </a:r>
            <a:endParaRPr lang="en-US" sz="3200" dirty="0"/>
          </a:p>
        </p:txBody>
      </p:sp>
      <p:sp>
        <p:nvSpPr>
          <p:cNvPr id="4" name="frame 25-mobile-family"/>
          <p:cNvSpPr/>
          <p:nvPr/>
        </p:nvSpPr>
        <p:spPr>
          <a:xfrm>
            <a:off x="4517136" y="1499616"/>
            <a:ext cx="2180129" cy="4590288"/>
          </a:xfrm>
          <a:prstGeom prst="roundRect">
            <a:avLst>
              <a:gd name="adj" fmla="val 3355"/>
            </a:avLst>
          </a:prstGeom>
          <a:solidFill>
            <a:schemeClr val="bg1"/>
          </a:solidFill>
          <a:ln w="9525">
            <a:solidFill>
              <a:srgbClr val="E4E1DA"/>
            </a:solidFill>
            <a:prstDash val="solid"/>
          </a:ln>
          <a:effectLst>
            <a:outerShdw sx="100000" sy="100000" kx="0" ky="0" algn="bl" rotWithShape="0" blurRad="127000" dist="38100" dir="5400000">
              <a:srgbClr val="172038">
                <a:alpha val="16000"/>
              </a:srgbClr>
            </a:outerShdw>
          </a:effectLst>
        </p:spPr>
      </p:sp>
      <p:pic>
        <p:nvPicPr>
          <p:cNvPr id="5" name="25-mobile-family" descr="Family home on a pho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1554480"/>
            <a:ext cx="2070401" cy="4480560"/>
          </a:xfrm>
          <a:prstGeom prst="rect">
            <a:avLst/>
          </a:prstGeom>
        </p:spPr>
      </p:pic>
      <p:sp>
        <p:nvSpPr>
          <p:cNvPr id="6" name="frame 26-mobile-onboarding"/>
          <p:cNvSpPr/>
          <p:nvPr/>
        </p:nvSpPr>
        <p:spPr>
          <a:xfrm>
            <a:off x="6940296" y="1499616"/>
            <a:ext cx="2180129" cy="4590288"/>
          </a:xfrm>
          <a:prstGeom prst="roundRect">
            <a:avLst>
              <a:gd name="adj" fmla="val 3355"/>
            </a:avLst>
          </a:prstGeom>
          <a:solidFill>
            <a:schemeClr val="bg1"/>
          </a:solidFill>
          <a:ln w="9525">
            <a:solidFill>
              <a:srgbClr val="E4E1DA"/>
            </a:solidFill>
            <a:prstDash val="solid"/>
          </a:ln>
          <a:effectLst>
            <a:outerShdw sx="100000" sy="100000" kx="0" ky="0" algn="bl" rotWithShape="0" blurRad="127000" dist="38100" dir="5400000">
              <a:srgbClr val="172038">
                <a:alpha val="16000"/>
              </a:srgbClr>
            </a:outerShdw>
          </a:effectLst>
        </p:spPr>
      </p:sp>
      <p:pic>
        <p:nvPicPr>
          <p:cNvPr id="7" name="26-mobile-onboarding" descr="Nanny onboarding on a phon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995160" y="1554480"/>
            <a:ext cx="2070401" cy="4480560"/>
          </a:xfrm>
          <a:prstGeom prst="rect">
            <a:avLst/>
          </a:prstGeom>
        </p:spPr>
      </p:pic>
      <p:sp>
        <p:nvSpPr>
          <p:cNvPr id="8" name="frame 27-mobile-nanny"/>
          <p:cNvSpPr/>
          <p:nvPr/>
        </p:nvSpPr>
        <p:spPr>
          <a:xfrm>
            <a:off x="9363456" y="1499616"/>
            <a:ext cx="2180129" cy="4590288"/>
          </a:xfrm>
          <a:prstGeom prst="roundRect">
            <a:avLst>
              <a:gd name="adj" fmla="val 3355"/>
            </a:avLst>
          </a:prstGeom>
          <a:solidFill>
            <a:schemeClr val="bg1"/>
          </a:solidFill>
          <a:ln w="9525">
            <a:solidFill>
              <a:srgbClr val="E4E1DA"/>
            </a:solidFill>
            <a:prstDash val="solid"/>
          </a:ln>
          <a:effectLst>
            <a:outerShdw sx="100000" sy="100000" kx="0" ky="0" algn="bl" rotWithShape="0" blurRad="127000" dist="38100" dir="5400000">
              <a:srgbClr val="172038">
                <a:alpha val="16000"/>
              </a:srgbClr>
            </a:outerShdw>
          </a:effectLst>
        </p:spPr>
      </p:sp>
      <p:pic>
        <p:nvPicPr>
          <p:cNvPr id="9" name="27-mobile-nanny" descr="Nanny booking on a phon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418320" y="1554480"/>
            <a:ext cx="2070401" cy="448056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48640" y="1691640"/>
            <a:ext cx="438912" cy="438912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201" y="1788201"/>
            <a:ext cx="245791" cy="245791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143000" y="1655064"/>
            <a:ext cx="306324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Install to home screen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Progressive web app with Omega icon.</a:t>
            </a:r>
            <a:endParaRPr lang="en-US" sz="1600" dirty="0"/>
          </a:p>
        </p:txBody>
      </p:sp>
      <p:sp>
        <p:nvSpPr>
          <p:cNvPr id="13" name="Shape 7"/>
          <p:cNvSpPr/>
          <p:nvPr/>
        </p:nvSpPr>
        <p:spPr>
          <a:xfrm>
            <a:off x="548640" y="2926080"/>
            <a:ext cx="438912" cy="438912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201" y="3022641"/>
            <a:ext cx="245791" cy="245791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143000" y="2889504"/>
            <a:ext cx="306324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Phone-first navigation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Bottom tabs; key actions first.</a:t>
            </a:r>
            <a:endParaRPr lang="en-US" sz="1600" dirty="0"/>
          </a:p>
        </p:txBody>
      </p:sp>
      <p:sp>
        <p:nvSpPr>
          <p:cNvPr id="16" name="Shape 9"/>
          <p:cNvSpPr/>
          <p:nvPr/>
        </p:nvSpPr>
        <p:spPr>
          <a:xfrm>
            <a:off x="548640" y="4160520"/>
            <a:ext cx="438912" cy="438912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201" y="4257081"/>
            <a:ext cx="245791" cy="245791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1143000" y="4123944"/>
            <a:ext cx="306324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Private by design offline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Only the app shell is cached — never personal data.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QUALITY &amp; HONESTY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audit cycles, every finding logged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0604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audit cycles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355848" y="1645920"/>
            <a:ext cx="260604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30168" y="17830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</a:t>
            </a:r>
            <a:endParaRPr lang="en-US" sz="4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findings logged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6163056" y="1645920"/>
            <a:ext cx="260604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37376" y="17830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53/53</a:t>
            </a:r>
            <a:endParaRPr lang="en-US" sz="4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unit &amp; integration tests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8970264" y="1645920"/>
            <a:ext cx="260604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244584" y="17830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29/29</a:t>
            </a:r>
            <a:endParaRPr lang="en-US" sz="4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browser tests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5661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Examples fixed: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second payment tab could double-count a deposit · forms lost typing after an error · unpaid holds could block a nanny indefinitely · low-contrast text · unsafe demo/live configuration.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57200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8F1E3"/>
          </a:solidFill>
          <a:ln w="12700">
            <a:solidFill>
              <a:srgbClr val="F8F1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70916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Honest status: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tested release candidate, not yet live. It needs your PayFast, email, storage and hosting accounts, a virus scanner, a penetration test and a legal review of the privacy notice before real families use it.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FUTURE EXPANSION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Room to grow — options, not commitments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47472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596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322" y="2076602"/>
            <a:ext cx="281635" cy="2816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6060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Nanny payouts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Once the compensation model is agreed.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297680" y="1645920"/>
            <a:ext cx="347472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17720" y="196596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362" y="2076602"/>
            <a:ext cx="281635" cy="28163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7720" y="26060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WhatsApp &amp; SMS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Reminders where families already are.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8046720" y="1645920"/>
            <a:ext cx="347472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366760" y="196596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402" y="2076602"/>
            <a:ext cx="281635" cy="28163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366760" y="26060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Two-way calendar sync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Google and Apple calendars.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347472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68680" y="411480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322" y="4225442"/>
            <a:ext cx="281635" cy="28163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68680" y="47548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Referrals &amp; loyalty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Reward the families who refer others.</a:t>
            </a:r>
            <a:endParaRPr lang="en-US" sz="1700" dirty="0"/>
          </a:p>
        </p:txBody>
      </p:sp>
      <p:sp>
        <p:nvSpPr>
          <p:cNvPr id="20" name="Shape 14"/>
          <p:cNvSpPr/>
          <p:nvPr/>
        </p:nvSpPr>
        <p:spPr>
          <a:xfrm>
            <a:off x="4297680" y="3794760"/>
            <a:ext cx="347472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4617720" y="411480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8362" y="4225442"/>
            <a:ext cx="281635" cy="281635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4617720" y="47548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New regions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Areas and pricing per region.</a:t>
            </a:r>
            <a:endParaRPr lang="en-US" sz="1700" dirty="0"/>
          </a:p>
        </p:txBody>
      </p:sp>
      <p:sp>
        <p:nvSpPr>
          <p:cNvPr id="24" name="Shape 17"/>
          <p:cNvSpPr/>
          <p:nvPr/>
        </p:nvSpPr>
        <p:spPr>
          <a:xfrm>
            <a:off x="8046720" y="3794760"/>
            <a:ext cx="347472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8366760" y="411480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402" y="4225442"/>
            <a:ext cx="281635" cy="281635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8366760" y="47548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Deeper insight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Demand forecasting by season and area.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0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mega Nannies founders photography from omeganannies.com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89520" y="0"/>
            <a:ext cx="460217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NEXT STEP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two-week pilot to go live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73736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8EE"/>
                </a:solidFill>
              </a:rPr>
              <a:t>Connect your accounts: hosting, PayFast, email, storage, virus scanning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6243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188720" y="2578608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8EE"/>
                </a:solidFill>
              </a:rPr>
              <a:t>Confirm rates, deposit, cancellation and refund policies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8640" y="346557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3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188720" y="3419856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8EE"/>
                </a:solidFill>
              </a:rPr>
              <a:t>Review the 17 imported profiles and invite your nannies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48640" y="430682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4306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4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188720" y="4261104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8EE"/>
                </a:solidFill>
              </a:rPr>
              <a:t>Run three real bookings end to end in PayFast sandbox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48640" y="514807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5148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5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188720" y="510235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8EE"/>
                </a:solidFill>
              </a:rPr>
              <a:t>Penetration test and privacy-notice review, then launch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0350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1"/>
                </a:solidFill>
              </a:rPr>
              <a:t>The software is ready. What remains are your accounts, your decisions and two outside reviews.</a:t>
            </a:r>
            <a:endParaRPr lang="en-US" sz="1300" dirty="0"/>
          </a:p>
        </p:txBody>
      </p:sp>
      <p:sp>
        <p:nvSpPr>
          <p:cNvPr id="22" name="Text 0"/>
          <p:cNvSpPr/>
          <p:nvPr>
            <p:ph idx="100" type="title" hasCustomPrompt="1"/>
          </p:nvPr>
        </p:nvSpPr>
        <p:spPr>
          <a:xfrm>
            <a:off x="640080" y="2011680"/>
            <a:ext cx="5852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mega Nannies">
  <a:themeElements>
    <a:clrScheme name="Omega Nannies">
      <a:dk1>
        <a:srgbClr val="1C2233"/>
      </a:dk1>
      <a:lt1>
        <a:srgbClr val="FFFFFF"/>
      </a:lt1>
      <a:dk2>
        <a:srgbClr val="172038"/>
      </a:dk2>
      <a:lt2>
        <a:srgbClr val="F3F1EC"/>
      </a:lt2>
      <a:accent1>
        <a:srgbClr val="B9892E"/>
      </a:accent1>
      <a:accent2>
        <a:srgbClr val="8A6413"/>
      </a:accent2>
      <a:accent3>
        <a:srgbClr val="1F7A4F"/>
      </a:accent3>
      <a:accent4>
        <a:srgbClr val="285F97"/>
      </a:accent4>
      <a:accent5>
        <a:srgbClr val="5A6070"/>
      </a:accent5>
      <a:accent6>
        <a:srgbClr val="B42F2A"/>
      </a:accent6>
      <a:hlink>
        <a:srgbClr val="285F97"/>
      </a:hlink>
      <a:folHlink>
        <a:srgbClr val="5A6070"/>
      </a:folHlink>
    </a:clrScheme>
    <a:fontScheme name="Omega Nannie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Omega Nannies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Omega Nannies Operating System</dc:title>
  <dc:subject>PptxGenJS Presentation</dc:subject>
  <dc:creator>PptxGenJS</dc:creator>
  <cp:lastModifiedBy>PptxGenJS</cp:lastModifiedBy>
  <cp:revision>1</cp:revision>
  <dcterms:created xsi:type="dcterms:W3CDTF">2026-10-30T05:14:08Z</dcterms:created>
  <dcterms:modified xsi:type="dcterms:W3CDTF">2026-10-30T05:14:08Z</dcterms:modified>
</cp:coreProperties>
</file>